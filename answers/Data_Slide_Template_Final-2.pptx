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B34FAE-26AB-494F-B975-1B8DEE0A57DB}" v="527" dt="2026-08-21T21:48:12.1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64" d="100"/>
          <a:sy n="64" d="100"/>
        </p:scale>
        <p:origin x="52" y="54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C23D048C54AAB2FC/Campaign_Data_Week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C23D048C54AAB2FC/Campaign_Data_Week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C23D048C54AAB2FC/Campaign_Data_Week1.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[Campaign_Data_Week1.xlsx]Sheet2!PivotTable1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Percentage of Sales per Channel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s>
    <c:plotArea>
      <c:layout/>
      <c:pieChart>
        <c:varyColors val="1"/>
        <c:ser>
          <c:idx val="0"/>
          <c:order val="0"/>
          <c:tx>
            <c:strRef>
              <c:f>Sheet2!$B$3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CE7-4588-B3E9-9CD92650311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CE7-4588-B3E9-9CD926503117}"/>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CE7-4588-B3E9-9CD926503117}"/>
              </c:ext>
            </c:extLst>
          </c:dPt>
          <c:cat>
            <c:strRef>
              <c:f>Sheet2!$A$4:$A$7</c:f>
              <c:strCache>
                <c:ptCount val="3"/>
                <c:pt idx="0">
                  <c:v>Email</c:v>
                </c:pt>
                <c:pt idx="1">
                  <c:v>Instagram</c:v>
                </c:pt>
                <c:pt idx="2">
                  <c:v>Web Banner</c:v>
                </c:pt>
              </c:strCache>
            </c:strRef>
          </c:cat>
          <c:val>
            <c:numRef>
              <c:f>Sheet2!$B$4:$B$7</c:f>
              <c:numCache>
                <c:formatCode>General</c:formatCode>
                <c:ptCount val="3"/>
                <c:pt idx="0">
                  <c:v>3506.8500000000004</c:v>
                </c:pt>
                <c:pt idx="1">
                  <c:v>1385.6</c:v>
                </c:pt>
                <c:pt idx="2">
                  <c:v>951.98</c:v>
                </c:pt>
              </c:numCache>
            </c:numRef>
          </c:val>
          <c:extLst>
            <c:ext xmlns:c16="http://schemas.microsoft.com/office/drawing/2014/chart" uri="{C3380CC4-5D6E-409C-BE32-E72D297353CC}">
              <c16:uniqueId val="{00000006-BCE7-4588-B3E9-9CD926503117}"/>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[Campaign_Data_Week1.xlsx]Sheet2!PivotTable1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Sales from Campaigns Across All Channels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Sheet2!$B$3:$B$4</c:f>
              <c:strCache>
                <c:ptCount val="1"/>
                <c:pt idx="0">
                  <c:v>Email</c:v>
                </c:pt>
              </c:strCache>
            </c:strRef>
          </c:tx>
          <c:spPr>
            <a:solidFill>
              <a:schemeClr val="accent1"/>
            </a:solidFill>
            <a:ln>
              <a:noFill/>
            </a:ln>
            <a:effectLst/>
          </c:spPr>
          <c:invertIfNegative val="0"/>
          <c:cat>
            <c:strRef>
              <c:f>Sheet2!$A$5:$A$7</c:f>
              <c:strCache>
                <c:ptCount val="2"/>
                <c:pt idx="0">
                  <c:v>A</c:v>
                </c:pt>
                <c:pt idx="1">
                  <c:v>B</c:v>
                </c:pt>
              </c:strCache>
            </c:strRef>
          </c:cat>
          <c:val>
            <c:numRef>
              <c:f>Sheet2!$B$5:$B$7</c:f>
              <c:numCache>
                <c:formatCode>General</c:formatCode>
                <c:ptCount val="2"/>
                <c:pt idx="0">
                  <c:v>2124.4700000000003</c:v>
                </c:pt>
                <c:pt idx="1">
                  <c:v>1382.3799999999999</c:v>
                </c:pt>
              </c:numCache>
            </c:numRef>
          </c:val>
          <c:extLst>
            <c:ext xmlns:c16="http://schemas.microsoft.com/office/drawing/2014/chart" uri="{C3380CC4-5D6E-409C-BE32-E72D297353CC}">
              <c16:uniqueId val="{00000000-0B8A-4797-8781-801E02D9056D}"/>
            </c:ext>
          </c:extLst>
        </c:ser>
        <c:ser>
          <c:idx val="1"/>
          <c:order val="1"/>
          <c:tx>
            <c:strRef>
              <c:f>Sheet2!$C$3:$C$4</c:f>
              <c:strCache>
                <c:ptCount val="1"/>
                <c:pt idx="0">
                  <c:v>Instagram</c:v>
                </c:pt>
              </c:strCache>
            </c:strRef>
          </c:tx>
          <c:spPr>
            <a:solidFill>
              <a:schemeClr val="accent2"/>
            </a:solidFill>
            <a:ln>
              <a:noFill/>
            </a:ln>
            <a:effectLst/>
          </c:spPr>
          <c:invertIfNegative val="0"/>
          <c:cat>
            <c:strRef>
              <c:f>Sheet2!$A$5:$A$7</c:f>
              <c:strCache>
                <c:ptCount val="2"/>
                <c:pt idx="0">
                  <c:v>A</c:v>
                </c:pt>
                <c:pt idx="1">
                  <c:v>B</c:v>
                </c:pt>
              </c:strCache>
            </c:strRef>
          </c:cat>
          <c:val>
            <c:numRef>
              <c:f>Sheet2!$C$5:$C$7</c:f>
              <c:numCache>
                <c:formatCode>General</c:formatCode>
                <c:ptCount val="2"/>
                <c:pt idx="0">
                  <c:v>969.46</c:v>
                </c:pt>
                <c:pt idx="1">
                  <c:v>416.14</c:v>
                </c:pt>
              </c:numCache>
            </c:numRef>
          </c:val>
          <c:extLst>
            <c:ext xmlns:c16="http://schemas.microsoft.com/office/drawing/2014/chart" uri="{C3380CC4-5D6E-409C-BE32-E72D297353CC}">
              <c16:uniqueId val="{00000001-0B8A-4797-8781-801E02D9056D}"/>
            </c:ext>
          </c:extLst>
        </c:ser>
        <c:ser>
          <c:idx val="2"/>
          <c:order val="2"/>
          <c:tx>
            <c:strRef>
              <c:f>Sheet2!$D$3:$D$4</c:f>
              <c:strCache>
                <c:ptCount val="1"/>
                <c:pt idx="0">
                  <c:v>Web Banner</c:v>
                </c:pt>
              </c:strCache>
            </c:strRef>
          </c:tx>
          <c:spPr>
            <a:solidFill>
              <a:schemeClr val="accent3"/>
            </a:solidFill>
            <a:ln>
              <a:noFill/>
            </a:ln>
            <a:effectLst/>
          </c:spPr>
          <c:invertIfNegative val="0"/>
          <c:cat>
            <c:strRef>
              <c:f>Sheet2!$A$5:$A$7</c:f>
              <c:strCache>
                <c:ptCount val="2"/>
                <c:pt idx="0">
                  <c:v>A</c:v>
                </c:pt>
                <c:pt idx="1">
                  <c:v>B</c:v>
                </c:pt>
              </c:strCache>
            </c:strRef>
          </c:cat>
          <c:val>
            <c:numRef>
              <c:f>Sheet2!$D$5:$D$7</c:f>
              <c:numCache>
                <c:formatCode>General</c:formatCode>
                <c:ptCount val="2"/>
                <c:pt idx="0">
                  <c:v>633.06000000000006</c:v>
                </c:pt>
                <c:pt idx="1">
                  <c:v>318.92000000000007</c:v>
                </c:pt>
              </c:numCache>
            </c:numRef>
          </c:val>
          <c:extLst>
            <c:ext xmlns:c16="http://schemas.microsoft.com/office/drawing/2014/chart" uri="{C3380CC4-5D6E-409C-BE32-E72D297353CC}">
              <c16:uniqueId val="{00000002-0B8A-4797-8781-801E02D9056D}"/>
            </c:ext>
          </c:extLst>
        </c:ser>
        <c:dLbls>
          <c:showLegendKey val="0"/>
          <c:showVal val="0"/>
          <c:showCatName val="0"/>
          <c:showSerName val="0"/>
          <c:showPercent val="0"/>
          <c:showBubbleSize val="0"/>
        </c:dLbls>
        <c:gapWidth val="150"/>
        <c:overlap val="100"/>
        <c:axId val="1352020487"/>
        <c:axId val="1352022535"/>
      </c:barChart>
      <c:catAx>
        <c:axId val="135202048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Campaigns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2022535"/>
        <c:crosses val="autoZero"/>
        <c:auto val="1"/>
        <c:lblAlgn val="ctr"/>
        <c:lblOffset val="100"/>
        <c:noMultiLvlLbl val="0"/>
      </c:catAx>
      <c:valAx>
        <c:axId val="135202253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 Sales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20204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[Campaign_Data_Week1.xlsx]Sheet2!PivotTable1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sales per Channel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pivotFmt>
      <c:pivotFmt>
        <c:idx val="10"/>
        <c:spPr>
          <a:solidFill>
            <a:schemeClr val="accent1"/>
          </a:solidFill>
          <a:ln>
            <a:noFill/>
          </a:ln>
          <a:effectLst/>
        </c:spPr>
        <c:marker>
          <c:symbol val="none"/>
        </c:marker>
      </c:pivotFmt>
      <c:pivotFmt>
        <c:idx val="11"/>
        <c:spPr>
          <a:solidFill>
            <a:schemeClr val="accent1"/>
          </a:solidFill>
          <a:ln>
            <a:noFill/>
          </a:ln>
          <a:effectLst/>
        </c:spPr>
        <c:marker>
          <c:symbol val="none"/>
        </c:marker>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pivotFmt>
      <c:pivotFmt>
        <c:idx val="19"/>
        <c:spPr>
          <a:solidFill>
            <a:schemeClr val="accent1"/>
          </a:solidFill>
          <a:ln>
            <a:noFill/>
          </a:ln>
          <a:effectLst/>
        </c:spPr>
        <c:marker>
          <c:symbol val="none"/>
        </c:marker>
      </c:pivotFmt>
      <c:pivotFmt>
        <c:idx val="20"/>
        <c:spPr>
          <a:solidFill>
            <a:schemeClr val="accent1"/>
          </a:solidFill>
          <a:ln>
            <a:noFill/>
          </a:ln>
          <a:effectLst/>
        </c:spPr>
        <c:marker>
          <c:symbol val="none"/>
        </c:marker>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Sheet2!$B$3:$B$4</c:f>
              <c:strCache>
                <c:ptCount val="1"/>
                <c:pt idx="0">
                  <c:v>Email</c:v>
                </c:pt>
              </c:strCache>
            </c:strRef>
          </c:tx>
          <c:spPr>
            <a:solidFill>
              <a:schemeClr val="accent1"/>
            </a:solidFill>
            <a:ln>
              <a:noFill/>
            </a:ln>
            <a:effectLst/>
          </c:spPr>
          <c:invertIfNegative val="0"/>
          <c:cat>
            <c:strRef>
              <c:f>Sheet2!$A$5:$A$7</c:f>
              <c:strCache>
                <c:ptCount val="2"/>
                <c:pt idx="0">
                  <c:v>A</c:v>
                </c:pt>
                <c:pt idx="1">
                  <c:v>B</c:v>
                </c:pt>
              </c:strCache>
            </c:strRef>
          </c:cat>
          <c:val>
            <c:numRef>
              <c:f>Sheet2!$B$5:$B$7</c:f>
              <c:numCache>
                <c:formatCode>General</c:formatCode>
                <c:ptCount val="2"/>
                <c:pt idx="0">
                  <c:v>2124.4700000000003</c:v>
                </c:pt>
                <c:pt idx="1">
                  <c:v>1382.3799999999999</c:v>
                </c:pt>
              </c:numCache>
            </c:numRef>
          </c:val>
          <c:extLst>
            <c:ext xmlns:c16="http://schemas.microsoft.com/office/drawing/2014/chart" uri="{C3380CC4-5D6E-409C-BE32-E72D297353CC}">
              <c16:uniqueId val="{00000000-B009-4A3E-A139-57178BCA2EAA}"/>
            </c:ext>
          </c:extLst>
        </c:ser>
        <c:ser>
          <c:idx val="1"/>
          <c:order val="1"/>
          <c:tx>
            <c:strRef>
              <c:f>Sheet2!$C$3:$C$4</c:f>
              <c:strCache>
                <c:ptCount val="1"/>
                <c:pt idx="0">
                  <c:v>Instagram</c:v>
                </c:pt>
              </c:strCache>
            </c:strRef>
          </c:tx>
          <c:spPr>
            <a:solidFill>
              <a:schemeClr val="accent2"/>
            </a:solidFill>
            <a:ln>
              <a:noFill/>
            </a:ln>
            <a:effectLst/>
          </c:spPr>
          <c:invertIfNegative val="0"/>
          <c:cat>
            <c:strRef>
              <c:f>Sheet2!$A$5:$A$7</c:f>
              <c:strCache>
                <c:ptCount val="2"/>
                <c:pt idx="0">
                  <c:v>A</c:v>
                </c:pt>
                <c:pt idx="1">
                  <c:v>B</c:v>
                </c:pt>
              </c:strCache>
            </c:strRef>
          </c:cat>
          <c:val>
            <c:numRef>
              <c:f>Sheet2!$C$5:$C$7</c:f>
              <c:numCache>
                <c:formatCode>General</c:formatCode>
                <c:ptCount val="2"/>
                <c:pt idx="0">
                  <c:v>969.46</c:v>
                </c:pt>
                <c:pt idx="1">
                  <c:v>416.14</c:v>
                </c:pt>
              </c:numCache>
            </c:numRef>
          </c:val>
          <c:extLst>
            <c:ext xmlns:c16="http://schemas.microsoft.com/office/drawing/2014/chart" uri="{C3380CC4-5D6E-409C-BE32-E72D297353CC}">
              <c16:uniqueId val="{00000001-B009-4A3E-A139-57178BCA2EAA}"/>
            </c:ext>
          </c:extLst>
        </c:ser>
        <c:ser>
          <c:idx val="2"/>
          <c:order val="2"/>
          <c:tx>
            <c:strRef>
              <c:f>Sheet2!$D$3:$D$4</c:f>
              <c:strCache>
                <c:ptCount val="1"/>
                <c:pt idx="0">
                  <c:v>Web Banner</c:v>
                </c:pt>
              </c:strCache>
            </c:strRef>
          </c:tx>
          <c:spPr>
            <a:solidFill>
              <a:schemeClr val="accent3"/>
            </a:solidFill>
            <a:ln>
              <a:noFill/>
            </a:ln>
            <a:effectLst/>
          </c:spPr>
          <c:invertIfNegative val="0"/>
          <c:cat>
            <c:strRef>
              <c:f>Sheet2!$A$5:$A$7</c:f>
              <c:strCache>
                <c:ptCount val="2"/>
                <c:pt idx="0">
                  <c:v>A</c:v>
                </c:pt>
                <c:pt idx="1">
                  <c:v>B</c:v>
                </c:pt>
              </c:strCache>
            </c:strRef>
          </c:cat>
          <c:val>
            <c:numRef>
              <c:f>Sheet2!$D$5:$D$7</c:f>
              <c:numCache>
                <c:formatCode>General</c:formatCode>
                <c:ptCount val="2"/>
                <c:pt idx="0">
                  <c:v>633.06000000000006</c:v>
                </c:pt>
                <c:pt idx="1">
                  <c:v>318.92000000000007</c:v>
                </c:pt>
              </c:numCache>
            </c:numRef>
          </c:val>
          <c:extLst>
            <c:ext xmlns:c16="http://schemas.microsoft.com/office/drawing/2014/chart" uri="{C3380CC4-5D6E-409C-BE32-E72D297353CC}">
              <c16:uniqueId val="{00000002-B009-4A3E-A139-57178BCA2EAA}"/>
            </c:ext>
          </c:extLst>
        </c:ser>
        <c:dLbls>
          <c:showLegendKey val="0"/>
          <c:showVal val="0"/>
          <c:showCatName val="0"/>
          <c:showSerName val="0"/>
          <c:showPercent val="0"/>
          <c:showBubbleSize val="0"/>
        </c:dLbls>
        <c:gapWidth val="219"/>
        <c:overlap val="-27"/>
        <c:axId val="1128128007"/>
        <c:axId val="1302578695"/>
      </c:barChart>
      <c:catAx>
        <c:axId val="11281280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2578695"/>
        <c:crosses val="autoZero"/>
        <c:auto val="1"/>
        <c:lblAlgn val="ctr"/>
        <c:lblOffset val="100"/>
        <c:noMultiLvlLbl val="0"/>
      </c:catAx>
      <c:valAx>
        <c:axId val="13025786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812800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8/21/2026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8/21/2026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4" name="Object 3"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3" name="Object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2" name="Object 1" hidden="1"/>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chart" Target="../charts/chart3.xml"/><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775597"/>
          </a:xfrm>
        </p:spPr>
        <p:txBody>
          <a:bodyPr anchor="t"/>
          <a:lstStyle/>
          <a:p>
            <a:r>
              <a:rPr lang="en-US" sz="2800" dirty="0"/>
              <a:t>Performance of </a:t>
            </a:r>
            <a:r>
              <a:rPr lang="en-US" sz="2800"/>
              <a:t>Campaigns</a:t>
            </a:r>
            <a:r>
              <a:rPr lang="en-US" sz="2800" dirty="0"/>
              <a:t> Across Different Channels For New Customers</a:t>
            </a:r>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dirty="0">
                <a:solidFill>
                  <a:srgbClr val="000000"/>
                </a:solidFill>
              </a:rPr>
              <a:t>Recommendation: From the Analysis Above, I have concluded that using campaign A with Emails as a channel was most successful in creating more sales for new customers. As shown throughout all of the graphs above emails outperformed the other channels as it accumulated over 2000 sales alone accounting for over 50% of total sales generated from all three channels. Whereas the other channels, did not surpass 1,000 sales individually, making Emails and Campaign A, which takes an informal tone, the stronge</a:t>
            </a:r>
            <a:r>
              <a:rPr lang="en-US" sz="1200" b="1">
                <a:solidFill>
                  <a:srgbClr val="000000"/>
                </a:solidFill>
              </a:rPr>
              <a:t>st combination for new customer sales.</a:t>
            </a:r>
            <a:endParaRPr lang="en-US" sz="1200" b="1" dirty="0">
              <a:solidFill>
                <a:srgbClr val="000000"/>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838228" y="1499257"/>
            <a:ext cx="2219173" cy="646331"/>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Total Sales From Campaigns Across All Channels (New </a:t>
            </a:r>
            <a:r>
              <a:rPr lang="en-US" sz="1200" b="1">
                <a:solidFill>
                  <a:srgbClr val="21BF61"/>
                </a:solidFill>
              </a:rPr>
              <a:t>Customers</a:t>
            </a:r>
            <a:r>
              <a:rPr lang="en-US" sz="1200" b="1" dirty="0">
                <a:solidFill>
                  <a:srgbClr val="21BF61"/>
                </a:solidFill>
              </a:rPr>
              <a:t>)</a:t>
            </a:r>
            <a:endParaRPr lang="en-US" dirty="0"/>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711852"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306799" y="1719502"/>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a:solidFill>
                  <a:srgbClr val="21BF61"/>
                </a:solidFill>
              </a:rPr>
              <a:t>Total Sales per Channel</a:t>
            </a:r>
          </a:p>
          <a:p>
            <a:pPr algn="ctr"/>
            <a:r>
              <a:rPr lang="en-US" sz="1200" b="1">
                <a:solidFill>
                  <a:srgbClr val="21BF61"/>
                </a:solidFill>
              </a:rPr>
              <a:t>(New Customers)</a:t>
            </a:r>
            <a:endParaRPr lang="en-US" sz="1200" b="1" dirty="0">
              <a:solidFill>
                <a:srgbClr val="21BF61"/>
              </a:solidFill>
            </a:endParaRPr>
          </a:p>
        </p:txBody>
      </p:sp>
      <p:sp>
        <p:nvSpPr>
          <p:cNvPr id="54" name="Rectangle 53">
            <a:extLst>
              <a:ext uri="{FF2B5EF4-FFF2-40B4-BE49-F238E27FC236}">
                <a16:creationId xmlns:a16="http://schemas.microsoft.com/office/drawing/2014/main" id="{AC2F7AF7-DC76-6C1A-0458-2264EDF24BF9}"/>
              </a:ext>
            </a:extLst>
          </p:cNvPr>
          <p:cNvSpPr/>
          <p:nvPr/>
        </p:nvSpPr>
        <p:spPr>
          <a:xfrm>
            <a:off x="7622972" y="1715577"/>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a:solidFill>
                  <a:srgbClr val="21BF61"/>
                </a:solidFill>
              </a:rPr>
              <a:t>Total Percentage of Sales per Channel (New Customers)</a:t>
            </a:r>
            <a:endParaRPr lang="en-US"/>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10" name="Chart 9">
            <a:extLst>
              <a:ext uri="{FF2B5EF4-FFF2-40B4-BE49-F238E27FC236}">
                <a16:creationId xmlns:a16="http://schemas.microsoft.com/office/drawing/2014/main" id="{42BE9C1C-BBD8-99CE-F4E0-771E75A2796F}"/>
              </a:ext>
              <a:ext uri="{147F2762-F138-4A5C-976F-8EAC2B608ADB}">
                <a16:predDERef xmlns:a16="http://schemas.microsoft.com/office/drawing/2014/main" pred="{21974D94-81B2-3A12-78B1-A5063F4275AF}"/>
              </a:ext>
            </a:extLst>
          </p:cNvPr>
          <p:cNvGraphicFramePr>
            <a:graphicFrameLocks/>
          </p:cNvGraphicFramePr>
          <p:nvPr>
            <p:extLst>
              <p:ext uri="{D42A27DB-BD31-4B8C-83A1-F6EECF244321}">
                <p14:modId xmlns:p14="http://schemas.microsoft.com/office/powerpoint/2010/main" val="57076980"/>
              </p:ext>
            </p:extLst>
          </p:nvPr>
        </p:nvGraphicFramePr>
        <p:xfrm>
          <a:off x="7711240" y="2163271"/>
          <a:ext cx="2780685" cy="2276681"/>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1" name="Chart 10">
            <a:extLst>
              <a:ext uri="{FF2B5EF4-FFF2-40B4-BE49-F238E27FC236}">
                <a16:creationId xmlns:a16="http://schemas.microsoft.com/office/drawing/2014/main" id="{8CAFDA79-3826-0A89-E0B1-AF59D58E8771}"/>
              </a:ext>
              <a:ext uri="{147F2762-F138-4A5C-976F-8EAC2B608ADB}">
                <a16:predDERef xmlns:a16="http://schemas.microsoft.com/office/drawing/2014/main" pred="{7616047F-283B-8534-DBA0-4C9D5B701724}"/>
              </a:ext>
            </a:extLst>
          </p:cNvPr>
          <p:cNvGraphicFramePr>
            <a:graphicFrameLocks/>
          </p:cNvGraphicFramePr>
          <p:nvPr>
            <p:extLst>
              <p:ext uri="{D42A27DB-BD31-4B8C-83A1-F6EECF244321}">
                <p14:modId xmlns:p14="http://schemas.microsoft.com/office/powerpoint/2010/main" val="1786488113"/>
              </p:ext>
            </p:extLst>
          </p:nvPr>
        </p:nvGraphicFramePr>
        <p:xfrm>
          <a:off x="697655" y="2141000"/>
          <a:ext cx="2741007" cy="2518575"/>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2" name="Chart 11">
            <a:extLst>
              <a:ext uri="{FF2B5EF4-FFF2-40B4-BE49-F238E27FC236}">
                <a16:creationId xmlns:a16="http://schemas.microsoft.com/office/drawing/2014/main" id="{21974D94-81B2-3A12-78B1-A5063F4275AF}"/>
              </a:ext>
              <a:ext uri="{147F2762-F138-4A5C-976F-8EAC2B608ADB}">
                <a16:predDERef xmlns:a16="http://schemas.microsoft.com/office/drawing/2014/main" pred="{8CAFDA79-3826-0A89-E0B1-AF59D58E8771}"/>
              </a:ext>
            </a:extLst>
          </p:cNvPr>
          <p:cNvGraphicFramePr>
            <a:graphicFrameLocks/>
          </p:cNvGraphicFramePr>
          <p:nvPr>
            <p:extLst>
              <p:ext uri="{D42A27DB-BD31-4B8C-83A1-F6EECF244321}">
                <p14:modId xmlns:p14="http://schemas.microsoft.com/office/powerpoint/2010/main" val="930213399"/>
              </p:ext>
            </p:extLst>
          </p:nvPr>
        </p:nvGraphicFramePr>
        <p:xfrm>
          <a:off x="4150536" y="2184891"/>
          <a:ext cx="2764512" cy="2513023"/>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D9CDD6-302A-4910-894A-79BA7510E5E5}">
  <ds:schemaRefs>
    <ds:schemaRef ds:uri="http://schemas.microsoft.com/sharepoint/v3/contenttype/forms"/>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BCG Grid 16:9</Template>
  <TotalTime>108</TotalTime>
  <Words>24</Words>
  <Application>Microsoft Office PowerPoint</Application>
  <PresentationFormat>Widescreen</PresentationFormat>
  <Paragraphs>5</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BCG Grid 16:9</vt:lpstr>
      <vt:lpstr>Performance of Campaigns Across Different Channels For New Customers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Lancaster, Devon</cp:lastModifiedBy>
  <cp:revision>112</cp:revision>
  <cp:lastPrinted>2016-04-06T18:59:25Z</cp:lastPrinted>
  <dcterms:created xsi:type="dcterms:W3CDTF">2025-04-28T17:07:03Z</dcterms:created>
  <dcterms:modified xsi:type="dcterms:W3CDTF">2026-08-21T21:48:25Z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